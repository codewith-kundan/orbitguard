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997135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F0FF"/>
                </a:solidFill>
              </a:defRPr>
            </a:pPr>
            <a:r>
              <a:t>SMART INDIA HACKATHON 2026</a:t>
            </a:r>
          </a:p>
          <a:p>
            <a:pPr>
              <a:spcAft>
                <a:spcPts val="400"/>
              </a:spcAft>
              <a:defRPr sz="4000" b="1">
                <a:solidFill>
                  <a:srgbClr val="FFFFFF"/>
                </a:solidFill>
              </a:defRPr>
            </a:pPr>
            <a:r>
              <a:t>ORBITGUARD</a:t>
            </a:r>
          </a:p>
          <a:p>
            <a:pPr>
              <a:spcAft>
                <a:spcPts val="2000"/>
              </a:spcAft>
              <a:defRPr sz="1500" b="1">
                <a:solidFill>
                  <a:srgbClr val="38BDF8"/>
                </a:solidFill>
              </a:defRPr>
            </a:pPr>
            <a:r>
              <a:t>Space Debris Tracking, Astrodynamic Conjunction Assessment &amp; AI Mission Decision Support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</a:rPr>
              <a:t>•  Problem Statement ID: </a:t>
            </a:r>
            <a:r>
              <a:rPr sz="1300" b="1">
                <a:solidFill>
                  <a:srgbClr val="FFFFFF"/>
                </a:solidFill>
              </a:rPr>
              <a:t>PS-04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</a:rPr>
              <a:t>•  Problem Statement Title: </a:t>
            </a:r>
            <a:r>
              <a:rPr sz="1300" b="1">
                <a:solidFill>
                  <a:srgbClr val="FFFFFF"/>
                </a:solidFill>
              </a:rPr>
              <a:t>Space Debris Tracking &amp; Satellite Collision Risk Prediction Dashboard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</a:rPr>
              <a:t>•  Theme: </a:t>
            </a:r>
            <a:r>
              <a:rPr sz="1300" b="1">
                <a:solidFill>
                  <a:srgbClr val="FFFFFF"/>
                </a:solidFill>
              </a:rPr>
              <a:t>Space Technology / Defense &amp; Security / Advanced Computing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</a:rPr>
              <a:t>•  PS Category: </a:t>
            </a:r>
            <a:r>
              <a:rPr sz="1300" b="1">
                <a:solidFill>
                  <a:srgbClr val="FFFFFF"/>
                </a:solidFill>
              </a:rPr>
              <a:t>Software (Full-Stack Astrodynamics &amp; AI Mission Platform)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</a:rPr>
              <a:t>•  Team ID / Team Name: </a:t>
            </a:r>
            <a:r>
              <a:rPr sz="1300" b="1">
                <a:solidFill>
                  <a:srgbClr val="FFFFFF"/>
                </a:solidFill>
              </a:rPr>
              <a:t>[Team ID] • [Team Name Registered on SIH Portal]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</a:rPr>
              <a:t>•  Platform Version: </a:t>
            </a:r>
            <a:r>
              <a:rPr sz="1300" b="1">
                <a:solidFill>
                  <a:srgbClr val="FFFFFF"/>
                </a:solidFill>
              </a:rPr>
              <a:t>ORBITGUARD v2.1.0-PROD (100% Validated • 79/79 Tests Passing)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SIH IDEA PROPOSAL • PS-04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PROPOSED SOLUTION (Idea / Solution / Prototype)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42032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1. Real Data Ingestion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CelesTrak GP API &amp; Space-Track feeds + Modulo-10 checksum validation with local fallback cache (35,535 TLEs).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42032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508760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2. Scientific Astrodynamics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SGP4 propagation, 3-tier spatial sieve (altitude shells &lt;=50km), and orthogonal Secant TCA root solver.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42032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508760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3. Probability &amp; Risk Scoring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Foster-2D B-plane numerical integral, Akella-Alfriend series, Alfano max Pc bounds, and 0-100 risk 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371600"/>
            <a:ext cx="2542032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508760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4. CAM Optimization &amp; AI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4-candidate impulsive burn comparison matrix, Tsiolkovsky Hydrazine fuel cost, and 15-tool grounded AI copilot.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10728655" cy="2560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362895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F0FF"/>
                </a:solidFill>
              </a:defRPr>
            </a:pPr>
            <a:r>
              <a:t>OPERATIONAL END-TO-END MISSION DECISION WORKFLOW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 1. DATA: Multi-source live TLE ingestion (CelesTrak / Space-Track) + Modulo-10 checksum validation.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 2. PROPAGATION: Vectorized SGP4 propagation in TEME frame with WGS-84 / EGM-96 geoid transforms.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 3. SCREENING &amp; TCA: 3-tier spatial sieve + Secant root solver finding exact orthogonal TCA (r_rel · v_rel = 0).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 4. Pc &amp; RISK: Foster-2D B-plane probability integral + Alfano max Pc + 0-100 composite aerospace risk score.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 5. CAM SIMULATION: Gauss variational equations compute 4 burn candidates + Tsiolkovsky Hydrazine propellant mass.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 6. HUMAN DECISION &amp; AUDIT: FDO / Flight Director review, approval controls, and immutable UTC audit logging.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SYSTEM TOPOLOGY &amp; ASTRODYNAMICS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TECHNICAL APPROACH (3-Layer Architecture &amp; Tech Stack)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47288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172968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F0FF"/>
                </a:solidFill>
              </a:defRPr>
            </a:pPr>
            <a:r>
              <a:t>LAYER 1: DATA &amp; FEED INGESTION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Feeds: CelesTrak GP API (Primary), Space-Track 18th SDS (Secondary), SatNOGS DB.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Ingestion Engine: Asynchronous HTTP fetcher with Modulo-10 TLE line checksum validation.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Resilient Fallback: Local pre-validated SQLite cache containing 35,535 real space objects.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Data Provenance: Real-time UI indicator explicitly separating LIVE data from DEMO presets.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371600"/>
            <a:ext cx="3447288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8848" y="1508760"/>
            <a:ext cx="3172968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LAYER 2: CORE ASTRODYNAMICS ENGINE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Propagator: SGP4 C-extension (Vallado 2006) modeling J2/J3/J4 gravity zonal harmonics &amp; drag.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3-Tier Sieve: Perigee/Apogee altitude shells (|Δh| &lt;= 50km) prune 98.6% of candidate pairs in O(1).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Secant TCA: Orthogonal root-finding (r_rel · v_rel = 0) converging to sub-millisecond precision.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Probability &amp; Risk: Foster-2D B-plane integral + Akella-Alfriend series + Alfano max Pc bounds.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91856" y="1371600"/>
            <a:ext cx="3447288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9016" y="1508760"/>
            <a:ext cx="3172968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LAYER 3: DECISION SUPPORT &amp; CLIENT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CAM Planner: Side-by-side 4-candidate matrix + Tsiolkovsky propellant mass (Isp=220s Hydrazine).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AI Mission Copilot: 15-tool allowlisted execution layer + automated Digit Validator (±1% tolerance).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Case Management: 13-section command center with state machine (NEW -&gt; APPROVED -&gt; VERIFIED).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Visualization &amp; Compliance: Three.js 3D WebGL globe (35k objects @ 60 FPS) + CCSDS 508.0-B-1 CDM.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728655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15000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VERIFIED TECHNOLOGY STACK: Python 3.9+ • FastAPI • SGP4 C-Extension • NumPy • SciPy • SQLAlchemy • SQLite • React 18 • TypeScript • Three.js WebGL • TailwindCSS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OPERATIONAL READINESS &amp; VALIDATED BENCHMARKS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FEASIBILITY AND VIABILITY (Analysis, Risks &amp; Mitigations)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949440" cy="4937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65836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F0FF"/>
                </a:solidFill>
              </a:defRPr>
            </a:pPr>
            <a:r>
              <a:t>CHALLENGE  →  OPERATIONAL RISK  →  ORBITGUARD MITIGATION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59E0B"/>
                </a:solidFill>
              </a:rPr>
              <a:t>1. TLE Covariance Gap: </a:t>
            </a:r>
            <a:r>
              <a:rPr sz="1050">
                <a:solidFill>
                  <a:srgbClr val="94A3B8"/>
                </a:solidFill>
              </a:rPr>
              <a:t>TLEs lack 6x6 state covariance matrices. </a:t>
            </a:r>
            <a:r>
              <a:rPr sz="1050">
                <a:solidFill>
                  <a:srgbClr val="FFFFFF"/>
                </a:solidFill>
              </a:rPr>
              <a:t>→ Computes Alfano Max Pc bounds (Pc,max = R² / e·d²) establishing theoretical worst-case risk limits.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59E0B"/>
                </a:solidFill>
              </a:rPr>
              <a:t>2. External Feed Outage: </a:t>
            </a:r>
            <a:r>
              <a:rPr sz="1050">
                <a:solidFill>
                  <a:srgbClr val="94A3B8"/>
                </a:solidFill>
              </a:rPr>
              <a:t>Space-Track / CelesTrak downtime. </a:t>
            </a:r>
            <a:r>
              <a:rPr sz="1050">
                <a:solidFill>
                  <a:srgbClr val="FFFFFF"/>
                </a:solidFill>
              </a:rPr>
              <a:t>→ Multi-source failover architecture with instant automatic switch to local verified cache (35,535 TLEs).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59E0B"/>
                </a:solidFill>
              </a:rPr>
              <a:t>3. AI Hallucination Risk: </a:t>
            </a:r>
            <a:r>
              <a:rPr sz="1050">
                <a:solidFill>
                  <a:srgbClr val="94A3B8"/>
                </a:solidFill>
              </a:rPr>
              <a:t>LLM generating false miss distances or burns. </a:t>
            </a:r>
            <a:r>
              <a:rPr sz="1050">
                <a:solidFill>
                  <a:srgbClr val="FFFFFF"/>
                </a:solidFill>
              </a:rPr>
              <a:t>→ Zero-LLM physics rule + automated Digit Validator (±1% tolerance) verifying all claims against physics engine.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59E0B"/>
                </a:solidFill>
              </a:rPr>
              <a:t>4. Real Thruster Risk: </a:t>
            </a:r>
            <a:r>
              <a:rPr sz="1050">
                <a:solidFill>
                  <a:srgbClr val="94A3B8"/>
                </a:solidFill>
              </a:rPr>
              <a:t>Accidental unverified thruster firing. </a:t>
            </a:r>
            <a:r>
              <a:rPr sz="1050">
                <a:solidFill>
                  <a:srgbClr val="FFFFFF"/>
                </a:solidFill>
              </a:rPr>
              <a:t>→ Framed strictly as Decision Support. Real commanding requires multi-sig human approval &amp; telecommand keys.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59E0B"/>
                </a:solidFill>
              </a:rPr>
              <a:t>5. O(N²) Computation: </a:t>
            </a:r>
            <a:r>
              <a:rPr sz="1050">
                <a:solidFill>
                  <a:srgbClr val="94A3B8"/>
                </a:solidFill>
              </a:rPr>
              <a:t>Comparing 35,000 objects in real time. </a:t>
            </a:r>
            <a:r>
              <a:rPr sz="1050">
                <a:solidFill>
                  <a:srgbClr val="FFFFFF"/>
                </a:solidFill>
              </a:rPr>
              <a:t>→ 3-tier hierarchical spatial sieve prunes 98.6% of candidate pairs in O(1) time via altitude envelope shells.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596335" cy="4937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508760"/>
            <a:ext cx="3230575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EMPIRICAL BENCHMARKS</a:t>
            </a:r>
          </a:p>
          <a:p>
            <a:pPr>
              <a:spcAft>
                <a:spcPts val="400"/>
              </a:spcAft>
            </a:pPr>
            <a:r>
              <a:rPr b="1" sz="1400">
                <a:solidFill>
                  <a:srgbClr val="00F0FF"/>
                </a:solidFill>
              </a:rPr>
              <a:t>79 / 79
</a:t>
            </a:r>
            <a:r>
              <a:rPr sz="1000">
                <a:solidFill>
                  <a:srgbClr val="FFFFFF"/>
                </a:solidFill>
              </a:rPr>
              <a:t>Automated Pytest Tests Passed (100%) across unit &amp; integration test suites.
</a:t>
            </a:r>
          </a:p>
          <a:p>
            <a:pPr>
              <a:spcAft>
                <a:spcPts val="400"/>
              </a:spcAft>
            </a:pPr>
            <a:r>
              <a:rPr b="1" sz="1400">
                <a:solidFill>
                  <a:srgbClr val="00F0FF"/>
                </a:solidFill>
              </a:rPr>
              <a:t>11 / 11
</a:t>
            </a:r>
            <a:r>
              <a:rPr sz="1000">
                <a:solidFill>
                  <a:srgbClr val="FFFFFF"/>
                </a:solidFill>
              </a:rPr>
              <a:t>Analytical Benchmarks Passed (100%) against Vallado 2006 reference standards in 0.0008s.
</a:t>
            </a:r>
          </a:p>
          <a:p>
            <a:pPr>
              <a:spcAft>
                <a:spcPts val="400"/>
              </a:spcAft>
            </a:pPr>
            <a:r>
              <a:rPr b="1" sz="1400">
                <a:solidFill>
                  <a:srgbClr val="00F0FF"/>
                </a:solidFill>
              </a:rPr>
              <a:t>~100.7 ms
</a:t>
            </a:r>
            <a:r>
              <a:rPr sz="1000">
                <a:solidFill>
                  <a:srgbClr val="FFFFFF"/>
                </a:solidFill>
              </a:rPr>
              <a:t>Catalog Screening Pipeline Latency across 35,000+ space objects.
</a:t>
            </a:r>
          </a:p>
          <a:p>
            <a:pPr>
              <a:spcAft>
                <a:spcPts val="400"/>
              </a:spcAft>
            </a:pPr>
            <a:r>
              <a:rPr b="1" sz="1400">
                <a:solidFill>
                  <a:srgbClr val="00F0FF"/>
                </a:solidFill>
              </a:rPr>
              <a:t>+26.9 km
</a:t>
            </a:r>
            <a:r>
              <a:rPr sz="1000">
                <a:solidFill>
                  <a:srgbClr val="FFFFFF"/>
                </a:solidFill>
              </a:rPr>
              <a:t>Post-CAM Miss Distance Clearance achieved via 0.505 m/s impulsive prograde burn.
</a:t>
            </a:r>
          </a:p>
          <a:p>
            <a:pPr>
              <a:spcAft>
                <a:spcPts val="400"/>
              </a:spcAft>
            </a:pPr>
            <a:r>
              <a:rPr b="1" sz="1400">
                <a:solidFill>
                  <a:srgbClr val="00F0FF"/>
                </a:solidFill>
              </a:rPr>
              <a:t>117 grams
</a:t>
            </a:r>
            <a:r>
              <a:rPr sz="1000">
                <a:solidFill>
                  <a:srgbClr val="FFFFFF"/>
                </a:solidFill>
              </a:rPr>
              <a:t>Hydrazine (N2H4) Propellant Consumed for 260 kg spacecraft (Tsiolkovsky equation).
</a:t>
            </a:r>
          </a:p>
          <a:p>
            <a:pPr>
              <a:spcAft>
                <a:spcPts val="400"/>
              </a:spcAft>
            </a:pPr>
            <a:r>
              <a:rPr b="1" sz="1400">
                <a:solidFill>
                  <a:srgbClr val="00F0FF"/>
                </a:solidFill>
              </a:rPr>
              <a:t>-99.9%
</a:t>
            </a:r>
            <a:r>
              <a:rPr sz="1000">
                <a:solidFill>
                  <a:srgbClr val="FFFFFF"/>
                </a:solidFill>
              </a:rPr>
              <a:t>Collision Risk Reduction achieved following validated CAM maneuver.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VALUE PROPOSITION &amp; BENEFICIARY REACH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IMPACT AND BENEFITS (Social, Economic &amp; Space Sustainability)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F0FF"/>
                </a:solidFill>
              </a:defRPr>
            </a:pPr>
            <a:r>
              <a:t>EARLY DETECTION  →  PRECISE RISK  →  FASTER DECISION  →  OPTIMAL CAM  →  REDUCED RISK  →  SUSTAINABILITY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ORBITGUARD accelerates the conjunction assessment cycle from hours to sub-seconds, empowering operators to select propellant-optimal maneuvers that prevent catastrophic in-orbit breakups.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42032" cy="3566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226771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F0FF"/>
                </a:solidFill>
              </a:defRPr>
            </a:pPr>
            <a:r>
              <a:t>🛰️ SATELLITE OPERATORS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Democratizes enterprise-grade CARA &amp; CAM optimization without high recurring SaaS license costs.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Key Impact Metric:</a:t>
            </a:r>
          </a:p>
          <a:p>
            <a:pPr>
              <a:defRPr sz="1050">
                <a:solidFill>
                  <a:srgbClr val="00F0FF"/>
                </a:solidFill>
              </a:defRPr>
            </a:pPr>
            <a:r>
              <a:t>• 117g fuel per CAM</a:t>
            </a:r>
            <a:br/>
            <a:r>
              <a:t>• 99.9% risk reduction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743200"/>
            <a:ext cx="2542032" cy="3566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880360"/>
            <a:ext cx="226771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🛡️ SPACE AGENCIES &amp; DEFENSE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Provides sovereign, explainable, and air-gapped conjunction monitoring with full data provenance.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Key Impact Metric:</a:t>
            </a:r>
          </a:p>
          <a:p>
            <a:pPr>
              <a:defRPr sz="1050">
                <a:solidFill>
                  <a:srgbClr val="00F0FF"/>
                </a:solidFill>
              </a:defRPr>
            </a:pPr>
            <a:r>
              <a:t>• Zero external vendor lock-in</a:t>
            </a:r>
            <a:br/>
            <a:r>
              <a:t>• CCSDS CDM compliance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743200"/>
            <a:ext cx="2542032" cy="3566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880360"/>
            <a:ext cx="226771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A855F7"/>
                </a:solidFill>
              </a:defRPr>
            </a:pPr>
            <a:r>
              <a:t>🎓 RESEARCH &amp; UNIVERSITIES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Delivers an open, transparent astrodynamics testbed for training next-generation space engineers.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Key Impact Metric:</a:t>
            </a:r>
          </a:p>
          <a:p>
            <a:pPr>
              <a:defRPr sz="1050">
                <a:solidFill>
                  <a:srgbClr val="00F0FF"/>
                </a:solidFill>
              </a:defRPr>
            </a:pPr>
            <a:r>
              <a:t>• 100% open-source</a:t>
            </a:r>
            <a:br/>
            <a:r>
              <a:t>• Validated Vallado math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743200"/>
            <a:ext cx="2542032" cy="3566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2880360"/>
            <a:ext cx="226771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🌌 SPACE SUSTAINABILITY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Mitigates the Kessler Syndrome runaway cascade risk, safeguarding critical LEO/GEO orbital lanes.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Key Impact Metric:</a:t>
            </a:r>
          </a:p>
          <a:p>
            <a:pPr>
              <a:defRPr sz="1050">
                <a:solidFill>
                  <a:srgbClr val="00F0FF"/>
                </a:solidFill>
              </a:defRPr>
            </a:pPr>
            <a:r>
              <a:t>• Prevents orbital fragmentation</a:t>
            </a:r>
            <a:br/>
            <a:r>
              <a:t>• Protects critical LEO altitudes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ANALYTICAL RIGOR &amp; PUBLISHED STANDARDS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RESEARCH, VALIDATION &amp; REFERENCES (Scientific Proof &amp; Standards)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SCIENTIFIC VALIDATION BENCHMARKS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F0FF"/>
                </a:solidFill>
              </a:rPr>
              <a:t>✓  SGP4 Propagation: </a:t>
            </a:r>
            <a:r>
              <a:rPr sz="1000">
                <a:solidFill>
                  <a:srgbClr val="FFFFFF"/>
                </a:solidFill>
              </a:rPr>
              <a:t>Validated against Vallado 2006 Reference Vectors (LEO-00005, ISS-25544) with &lt;0.001 km epoch error.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F0FF"/>
                </a:solidFill>
              </a:rPr>
              <a:t>✓  Coordinate Transforms: </a:t>
            </a:r>
            <a:r>
              <a:rPr sz="1000">
                <a:solidFill>
                  <a:srgbClr val="FFFFFF"/>
                </a:solidFill>
              </a:rPr>
              <a:t>TEME -&gt; ECEF -&gt; WGS-84 Geodetic validated using Greenwich Mean Sidereal Time (GMST) and Bowring's algorithm.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F0FF"/>
                </a:solidFill>
              </a:rPr>
              <a:t>✓  Secant TCA Solver: </a:t>
            </a:r>
            <a:r>
              <a:rPr sz="1000">
                <a:solidFill>
                  <a:srgbClr val="FFFFFF"/>
                </a:solidFill>
              </a:rPr>
              <a:t>Resolves exact orthogonal encounter condition (r_rel · v_rel = 0) with sub-millisecond precision (&lt;10^-4 s).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F0FF"/>
                </a:solidFill>
              </a:rPr>
              <a:t>✓  Foster-2D Pc Engine: </a:t>
            </a:r>
            <a:r>
              <a:rPr sz="1000">
                <a:solidFill>
                  <a:srgbClr val="FFFFFF"/>
                </a:solidFill>
              </a:rPr>
              <a:t>B-plane numerical integral &amp; Akella-Alfriend series match published NASA benchmarks (&lt;0.1% deviation).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F0FF"/>
                </a:solidFill>
              </a:rPr>
              <a:t>✓  Gauss CAM Mechanics: </a:t>
            </a:r>
            <a:r>
              <a:rPr sz="1000">
                <a:solidFill>
                  <a:srgbClr val="FFFFFF"/>
                </a:solidFill>
              </a:rPr>
              <a:t>Along-track separation (Δs ≈ 3 Δvt Δt_lead) &amp; Tsiolkovsky Hydrazine propellant mass validated.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F0FF"/>
                </a:solidFill>
              </a:rPr>
              <a:t>✓  Test Suite Status: </a:t>
            </a:r>
            <a:r>
              <a:rPr sz="1000">
                <a:solidFill>
                  <a:srgbClr val="FFFFFF"/>
                </a:solidFill>
              </a:rPr>
              <a:t>100% Pass Rate: 79/79 Pytest automated tests &amp; 11/11 analytical benchmarks passing in 0.0008s.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333695" cy="4937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4967935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F0FF"/>
                </a:solidFill>
              </a:defRPr>
            </a:pPr>
            <a:r>
              <a:t>RESEARCH PAPERS &amp; INTERNATIONAL STANDARDS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59E0B"/>
                </a:solidFill>
              </a:rPr>
              <a:t>•  1. SGP4 Standard
</a:t>
            </a:r>
            <a:r>
              <a:rPr sz="950">
                <a:solidFill>
                  <a:srgbClr val="FFFFFF"/>
                </a:solidFill>
              </a:rPr>
              <a:t>   Vallado, D. A., Crawford, P., Hujsak, R., &amp; Kelso, T. S. (2006). Revisiting Spacetrack Report #3: Rev 2. AIAA 2006-6753.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59E0B"/>
                </a:solidFill>
              </a:rPr>
              <a:t>•  2. Foster-2D Collision Probability
</a:t>
            </a:r>
            <a:r>
              <a:rPr sz="950">
                <a:solidFill>
                  <a:srgbClr val="FFFFFF"/>
                </a:solidFill>
              </a:rPr>
              <a:t>   Foster, J. L., &amp; Estes, H. S. (1992). A Parametric Analysis of Orbital Debris Collision Probability and Maneuver Utility. NASA JSC-25898.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59E0B"/>
                </a:solidFill>
              </a:rPr>
              <a:t>•  3. Short-Encounter Rectilinear Model
</a:t>
            </a:r>
            <a:r>
              <a:rPr sz="950">
                <a:solidFill>
                  <a:srgbClr val="FFFFFF"/>
                </a:solidFill>
              </a:rPr>
              <a:t>   Chan, K. (1997). Collision Probability for Space Missions. Advances in the Astronautical Sciences, 96, 1033-1048.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59E0B"/>
                </a:solidFill>
              </a:rPr>
              <a:t>•  4. Akella-Alfriend Probability Series
</a:t>
            </a:r>
            <a:r>
              <a:rPr sz="950">
                <a:solidFill>
                  <a:srgbClr val="FFFFFF"/>
                </a:solidFill>
              </a:rPr>
              <a:t>   Akella, M. R., &amp; Alfriend, K. T. (2000). Probability of Collision Between Space Objects. Journal of Guidance, Control, and Dynamics, 23(5).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59E0B"/>
                </a:solidFill>
              </a:rPr>
              <a:t>•  5. Alfano Maximum Pc Bounds
</a:t>
            </a:r>
            <a:r>
              <a:rPr sz="950">
                <a:solidFill>
                  <a:srgbClr val="FFFFFF"/>
                </a:solidFill>
              </a:rPr>
              <a:t>   Alfano, S. (2005). Relating Position Uncertainty to Maximum Conjunction Probability. Journal of the Astronautical Sciences, 53(2).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59E0B"/>
                </a:solidFill>
              </a:rPr>
              <a:t>•  6. CCSDS Conjunction Standard
</a:t>
            </a:r>
            <a:r>
              <a:rPr sz="950">
                <a:solidFill>
                  <a:srgbClr val="FFFFFF"/>
                </a:solidFill>
              </a:rPr>
              <a:t>   CCSDS 508.0-B-1 (2013). Conjunction Data Message (CDM). Consultative Committee for Space Data Systems Blue Book Standard.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