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365D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TITLE PAGE</a:t>
            </a:r>
          </a:p>
        </p:txBody>
      </p:sp>
      <p:pic>
        <p:nvPicPr>
          <p:cNvPr id="5" name="Picture 4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82880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508760"/>
            <a:ext cx="67665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74320" wrap="square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Problem Statement ID –
   </a:t>
            </a:r>
            <a:r>
              <a:rPr sz="1200">
                <a:solidFill>
                  <a:srgbClr val="1E293B"/>
                </a:solidFill>
                <a:latin typeface="Arial"/>
              </a:rPr>
              <a:t>PS-04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Problem Statement Title –
   </a:t>
            </a:r>
            <a:r>
              <a:rPr sz="1200">
                <a:solidFill>
                  <a:srgbClr val="1E293B"/>
                </a:solidFill>
                <a:latin typeface="Arial"/>
              </a:rPr>
              <a:t>Space Debris Tracking &amp; Satellite Collision Risk Prediction Dashboard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Theme –
   </a:t>
            </a:r>
            <a:r>
              <a:rPr sz="1200">
                <a:solidFill>
                  <a:srgbClr val="1E293B"/>
                </a:solidFill>
                <a:latin typeface="Arial"/>
              </a:rPr>
              <a:t>Space Technology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PS Category –
   </a:t>
            </a:r>
            <a:r>
              <a:rPr sz="120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Team ID –
   </a:t>
            </a:r>
            <a:r>
              <a:rPr sz="1200">
                <a:solidFill>
                  <a:srgbClr val="1E293B"/>
                </a:solidFill>
                <a:latin typeface="Arial"/>
              </a:rPr>
              <a:t>SIH2026-PS04-OG01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365D"/>
                </a:solidFill>
                <a:latin typeface="Arial"/>
              </a:rPr>
              <a:t>• Team Name –
   </a:t>
            </a:r>
            <a:r>
              <a:rPr sz="1200">
                <a:solidFill>
                  <a:srgbClr val="1E293B"/>
                </a:solidFill>
                <a:latin typeface="Arial"/>
              </a:rPr>
              <a:t>ORBITGUARD (Registered on portal)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08760"/>
            <a:ext cx="41148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space_view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45920"/>
            <a:ext cx="3840480" cy="18242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3977639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7490"/>
                </a:solidFill>
                <a:latin typeface="Arial"/>
              </a:defRPr>
            </a:pPr>
            <a:r>
              <a:t>ORBITGUARD SSA PLATFORM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✔ Real-time multi-source ephemeris ingestion (CelesTrak / Space-Track)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✔ Deterministic 3-phase conjunction screening for 35,000+ catalog objects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✔ Foster-2D Pc &amp; Explainable Multi-Factor OrbitGuard Risk Scoring (0–100)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✔ Interactive 3D WebGL celestial globe &amp; 2D tactical ground track view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✔ Automated collision alerts, CAM Delta-V planner &amp; CCSDS CDM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IDEA TITLE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691640" cy="5920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547872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Detailed Explanation of Proposed Solution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ORBITGUARD</a:t>
            </a:r>
            <a:r>
              <a:rPr sz="1000" b="0">
                <a:solidFill>
                  <a:srgbClr val="1E293B"/>
                </a:solidFill>
                <a:latin typeface="Arial"/>
              </a:rPr>
              <a:t> is an open, high-precision Space Situational Awareness (SSA) &amp; Collision Risk Intelligence platform.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End-to-End Pipeline</a:t>
            </a:r>
            <a:r>
              <a:rPr sz="1000" b="0">
                <a:solidFill>
                  <a:srgbClr val="1E293B"/>
                </a:solidFill>
                <a:latin typeface="Arial"/>
              </a:rPr>
              <a:t>: Ingests authoritative TLEs $\to$ Validates modulo-10 checksums $\to$ Analytical SGP4 propagation $\to$ 3-Phase spatial screening sieve $\to$ Multi-factor risk calculation $\to$ Interactive 3D/2D WebGL visualizer $\to$ Real-time alerts.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Operational Scale</a:t>
            </a:r>
            <a:r>
              <a:rPr sz="1000" b="0">
                <a:solidFill>
                  <a:srgbClr val="1E293B"/>
                </a:solidFill>
                <a:latin typeface="Arial"/>
              </a:rPr>
              <a:t>: Fully implemented full-stack architecture tracking </a:t>
            </a:r>
            <a:r>
              <a:rPr sz="1000" b="1">
                <a:solidFill>
                  <a:srgbClr val="1E293B"/>
                </a:solidFill>
                <a:latin typeface="Arial"/>
              </a:rPr>
              <a:t>35,000+ cataloged objects</a:t>
            </a:r>
            <a:r>
              <a:rPr sz="1000" b="0">
                <a:solidFill>
                  <a:srgbClr val="1E293B"/>
                </a:solidFill>
                <a:latin typeface="Arial"/>
              </a:rPr>
              <a:t> (payloads, debris, rocket stages) with deterministic sub-second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63040"/>
            <a:ext cx="3547872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How It Addresses the Problem (PS-04)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Democratizes SSA Intelligence</a:t>
            </a:r>
            <a:r>
              <a:rPr sz="1000" b="0">
                <a:solidFill>
                  <a:srgbClr val="1E293B"/>
                </a:solidFill>
                <a:latin typeface="Arial"/>
              </a:rPr>
              <a:t>: Breaks the monopoly of expensive, closed military/enterprise systems, empowering student teams, smallsat operators, and space startups.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Solves Pairwise Bottleneck</a:t>
            </a:r>
            <a:r>
              <a:rPr sz="1000" b="0">
                <a:solidFill>
                  <a:srgbClr val="1E293B"/>
                </a:solidFill>
                <a:latin typeface="Arial"/>
              </a:rPr>
              <a:t>: Hierarchical apogee/perigee altitude filtering eliminates &gt;99% non-crossing pairs in $\mathcal{O}(N \log N)$ time, preventing compute overload.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Actionable Operator Guidance</a:t>
            </a:r>
            <a:r>
              <a:rPr sz="1000" b="0">
                <a:solidFill>
                  <a:srgbClr val="1E293B"/>
                </a:solidFill>
                <a:latin typeface="Arial"/>
              </a:rPr>
              <a:t>: Converts raw orbital coordinates into exact Time of Closest Approach (TCA), 3D miss distance, relative velocity, and lead-time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547872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Innovation &amp; Uniqueness of Solution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Dual-Engine Risk Framework</a:t>
            </a:r>
            <a:r>
              <a:rPr sz="1000" b="0">
                <a:solidFill>
                  <a:srgbClr val="1E293B"/>
                </a:solidFill>
                <a:latin typeface="Arial"/>
              </a:rPr>
              <a:t>: Combines an explainable 0–100 OrbitGuard Risk Score with formal Foster-2D $P_c$ &amp; 10,000 Monte Carlo stochastic perturbations.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Scientific Data Truth Badges</a:t>
            </a:r>
            <a:r>
              <a:rPr sz="1000" b="0">
                <a:solidFill>
                  <a:srgbClr val="1E293B"/>
                </a:solidFill>
                <a:latin typeface="Arial"/>
              </a:rPr>
              <a:t>: Explicitly marks `LIVE SGP4`, `CALCULATED`, `MODEL PREDICTION`, `SIMULATION`, and `DATA UNAVAILABLE` (zero fabricated covariance).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Integrated Mission Toolkit</a:t>
            </a:r>
            <a:r>
              <a:rPr sz="1000" b="0">
                <a:solidFill>
                  <a:srgbClr val="1E293B"/>
                </a:solidFill>
                <a:latin typeface="Arial"/>
              </a:rPr>
              <a:t>: Includes Collision Avoidance Maneuver (CAM) $\Delta v$ optimization, King-Hele atmospheric decay tracking, and CCSDS CDM Blue Book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691640" cy="5920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30352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500"/>
              </a:spcAft>
              <a:defRPr b="1" sz="1200">
                <a:solidFill>
                  <a:srgbClr val="1A365D"/>
                </a:solidFill>
                <a:latin typeface="Arial"/>
              </a:defRPr>
            </a:pPr>
            <a:r>
              <a:t>• Technologies to be used (Implemented Tech Stack)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Frontend</a:t>
            </a:r>
            <a:r>
              <a:rPr sz="919" b="0">
                <a:solidFill>
                  <a:srgbClr val="1E293B"/>
                </a:solidFill>
                <a:latin typeface="Arial"/>
              </a:rPr>
              <a:t>: React 18.3, TypeScript, Vite, Tailwind CSS, Three.js (WebGL 3D Earth, Shaders), Recharts, Lucide.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Backend &amp; Orbital</a:t>
            </a:r>
            <a:r>
              <a:rPr sz="919" b="0">
                <a:solidFill>
                  <a:srgbClr val="1E293B"/>
                </a:solidFill>
                <a:latin typeface="Arial"/>
              </a:rPr>
              <a:t>: Python 3.9+, FastAPI (Async REST), C-accelerated SGP4/SDP4 (`sgp4.api.Satrec`), Skyfield, NumPy, SQLAlchemy.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Database &amp; Infra</a:t>
            </a:r>
            <a:r>
              <a:rPr sz="919" b="0">
                <a:solidFill>
                  <a:srgbClr val="1E293B"/>
                </a:solidFill>
                <a:latin typeface="Arial"/>
              </a:rPr>
              <a:t>: Indexed SQLite / PostgreSQL (spatial/perigee/apogee indices), Docker Compose, Background Daemons.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Data Sources</a:t>
            </a:r>
            <a:r>
              <a:rPr sz="919" b="0">
                <a:solidFill>
                  <a:srgbClr val="1E293B"/>
                </a:solidFill>
                <a:latin typeface="Arial"/>
              </a:rPr>
              <a:t>: CelesTrak (CSSI / AGI), Space-Track.org (18th SDS), Launch Library 2, NOAA SWPC ($F_{10.7}$, $A_p$).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b="1" sz="1200">
                <a:solidFill>
                  <a:srgbClr val="1A365D"/>
                </a:solidFill>
                <a:latin typeface="Arial"/>
              </a:defRPr>
            </a:pPr>
            <a:r>
              <a:t>• Methodology and Process for Implementation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Astrodynamic Frame Transforms</a:t>
            </a:r>
            <a:r>
              <a:rPr sz="919" b="0">
                <a:solidFill>
                  <a:srgbClr val="1E293B"/>
                </a:solidFill>
                <a:latin typeface="Arial"/>
              </a:rPr>
              <a:t>: $\text{TLE} \xrightarrow{\text{SGP4}} \text{TEME} \xrightarrow{\text{GMST}} \text{ECEF} \xrightarrow{\text{Bowring}} \text{WGS84 Geodetic } (\text{Lat, Lon, Alt})$.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3-Phase Conjunction Screening Sieve</a:t>
            </a:r>
            <a:r>
              <a:rPr sz="919" b="0">
                <a:solidFill>
                  <a:srgbClr val="1E293B"/>
                </a:solidFill>
                <a:latin typeface="Arial"/>
              </a:rPr>
              <a:t>:
  1. *Phase 1 (Altitude Envelope)*: Eliminates &gt;99% non-overlapping pairs in $\mathcal{O}(N \log N)$.
  2. *Phase 2 (Coarse Step)*: 3-min intervals detect candidate encounter windows.
  3. *Phase 3 (Fine Step &amp; Golden Search)*: 10s sub-stepping pinpoints exact Time of Closest Approach (TCA) and 3D miss distance ($d_{\text{miss}}$).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Arial"/>
              </a:rPr>
              <a:t>Multi-Factor Risk Assessment Engine</a:t>
            </a:r>
            <a:r>
              <a:rPr sz="919" b="0">
                <a:solidFill>
                  <a:srgbClr val="1E293B"/>
                </a:solidFill>
                <a:latin typeface="Arial"/>
              </a:rPr>
              <a:t>:
  $\text{Score} = 0.55 S_{\text{dist}} + 0.25 S_{\text{vel}} + 0.20 S_{\text{time}}$ (Weighted Explainable Score)
  Foster-2D Isotropic Hard-Body $P_c$ &amp; 10k Monte Carlo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143000"/>
            <a:ext cx="5559552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_space_view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76672" cy="2553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3364992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7490"/>
                </a:solidFill>
                <a:latin typeface="Arial"/>
              </a:defRPr>
            </a:pPr>
            <a:r>
              <a:t>▲ Working Prototype: Real-Time 3D WebGL Globe &amp; SGP4 Orbital Object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840480"/>
            <a:ext cx="5559552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conjunction_matrix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069080"/>
            <a:ext cx="5376672" cy="11439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6053328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7490"/>
                </a:solidFill>
                <a:latin typeface="Arial"/>
              </a:defRPr>
            </a:pPr>
            <a:r>
              <a:t>▲ Working Prototype: Real-Time Conjunction Risk &amp; Close Encounter Matrix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691640" cy="5920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54787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Analysis of Feasibility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Authoritative Public Ingestion</a:t>
            </a:r>
            <a:r>
              <a:rPr sz="980" b="0">
                <a:solidFill>
                  <a:srgbClr val="1E293B"/>
                </a:solidFill>
                <a:latin typeface="Arial"/>
              </a:rPr>
              <a:t>: Ingests free, high-volume TLE ephemerides directly from CelesTrak &amp; Space-Track (18th SDS) with zero proprietary hardware requirements.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Software-Centric Scalability</a:t>
            </a:r>
            <a:r>
              <a:rPr sz="980" b="0">
                <a:solidFill>
                  <a:srgbClr val="1E293B"/>
                </a:solidFill>
                <a:latin typeface="Arial"/>
              </a:rPr>
              <a:t>: Pure mathematical SGP4 propagation and spatial sieving run efficiently on standard cloud or edge servers with sub-second execution ($&lt;1.5\text{s}$).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Client-Side WebGL Rendering</a:t>
            </a:r>
            <a:r>
              <a:rPr sz="980" b="0">
                <a:solidFill>
                  <a:srgbClr val="1E293B"/>
                </a:solidFill>
                <a:latin typeface="Arial"/>
              </a:rPr>
              <a:t>: Three.js GPU shaders offload visualization computation directly to the client browser, maintaining minimal backend server footprint.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Proven Working Prototype</a:t>
            </a:r>
            <a:r>
              <a:rPr sz="980" b="0">
                <a:solidFill>
                  <a:srgbClr val="1E293B"/>
                </a:solidFill>
                <a:latin typeface="Arial"/>
              </a:rPr>
              <a:t>: Fully functional full-stack codebase with </a:t>
            </a:r>
            <a:r>
              <a:rPr sz="980" b="1">
                <a:solidFill>
                  <a:srgbClr val="1E293B"/>
                </a:solidFill>
                <a:latin typeface="Arial"/>
              </a:rPr>
              <a:t>44/44 passing automated pytest test cases</a:t>
            </a:r>
            <a:r>
              <a:rPr sz="980" b="0">
                <a:solidFill>
                  <a:srgbClr val="1E293B"/>
                </a:solidFill>
                <a:latin typeface="Arial"/>
              </a:rPr>
              <a:t> verifying numerical correctness.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34440"/>
            <a:ext cx="354787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Potential Challenges &amp; Risks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Covariance Absence in TLEs</a:t>
            </a:r>
            <a:r>
              <a:rPr sz="980" b="0">
                <a:solidFill>
                  <a:srgbClr val="1E293B"/>
                </a:solidFill>
                <a:latin typeface="Arial"/>
              </a:rPr>
              <a:t>: Standard public TLE sets do not provide formal $6\times 6$ error covariance matrices, making true mathematical $P_c$ unconstrained.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Combinatorial Compute Scale</a:t>
            </a:r>
            <a:r>
              <a:rPr sz="980" b="0">
                <a:solidFill>
                  <a:srgbClr val="1E293B"/>
                </a:solidFill>
                <a:latin typeface="Arial"/>
              </a:rPr>
              <a:t>: Screening $N=35,000$ space objects against each other yields $\approx 6.1 \times 10^8$ pairwise interactions over a 72-hour window.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Upstream API Outages / Limits</a:t>
            </a:r>
            <a:r>
              <a:rPr sz="980" b="0">
                <a:solidFill>
                  <a:srgbClr val="1E293B"/>
                </a:solidFill>
                <a:latin typeface="Arial"/>
              </a:rPr>
              <a:t>: External network latency, Space-Track rate limits, or CelesTrak upstream downtime can disrupt live data synchronization.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Client GPU Load with Thousands of Objects</a:t>
            </a:r>
            <a:r>
              <a:rPr sz="980" b="0">
                <a:solidFill>
                  <a:srgbClr val="1E293B"/>
                </a:solidFill>
                <a:latin typeface="Arial"/>
              </a:rPr>
              <a:t>: Rendering tens of thousands of dynamic 3D points and trajectories simultaneously can cause client frame drops.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234440"/>
            <a:ext cx="354787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Aft>
                <a:spcPts val="1000"/>
              </a:spcAft>
            </a:pPr>
            <a:r>
              <a:rPr b="1" sz="1250">
                <a:solidFill>
                  <a:srgbClr val="1A365D"/>
                </a:solidFill>
                <a:latin typeface="Arial"/>
              </a:rPr>
              <a:t>• Strategies for Overcoming Challenges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Transparent Heuristic vs $P_c$ Separation</a:t>
            </a:r>
            <a:r>
              <a:rPr sz="980" b="0">
                <a:solidFill>
                  <a:srgbClr val="1E293B"/>
                </a:solidFill>
                <a:latin typeface="Arial"/>
              </a:rPr>
              <a:t>: Uses an explainable OrbitGuard Risk Score (0–100) and explicitly marks $P_c$ as `UNAVAILABLE` when covariance is absent (zero fake claims).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3-Phase Spatial Sieving</a:t>
            </a:r>
            <a:r>
              <a:rPr sz="980" b="0">
                <a:solidFill>
                  <a:srgbClr val="1E293B"/>
                </a:solidFill>
                <a:latin typeface="Arial"/>
              </a:rPr>
              <a:t>: Geometric apogee/perigee sorting eliminates &gt;99% non-overlapping orbits instantly, screening only $\approx 400$ candidate crossing pairs.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Resilient Multi-Tier Ingestion</a:t>
            </a:r>
            <a:r>
              <a:rPr sz="980" b="0">
                <a:solidFill>
                  <a:srgbClr val="1E293B"/>
                </a:solidFill>
                <a:latin typeface="Arial"/>
              </a:rPr>
              <a:t>: In-memory cache + persistent database + deterministic verified offline fallback mode ensures 100% platform availability.</a:t>
            </a:r>
          </a:p>
          <a:p>
            <a:pPr>
              <a:spcAft>
                <a:spcPts val="800"/>
              </a:spcAft>
            </a:pPr>
            <a:r>
              <a:rPr sz="980" b="1">
                <a:solidFill>
                  <a:srgbClr val="1E293B"/>
                </a:solidFill>
                <a:latin typeface="Arial"/>
              </a:rPr>
              <a:t>GPU Point Cloud Instancing</a:t>
            </a:r>
            <a:r>
              <a:rPr sz="980" b="0">
                <a:solidFill>
                  <a:srgbClr val="1E293B"/>
                </a:solidFill>
                <a:latin typeface="Arial"/>
              </a:rPr>
              <a:t>: Instanced buffer geometries and Level-of-Detail (LOD) management deliver consistent </a:t>
            </a:r>
            <a:r>
              <a:rPr sz="980" b="1">
                <a:solidFill>
                  <a:srgbClr val="1E293B"/>
                </a:solidFill>
                <a:latin typeface="Arial"/>
              </a:rPr>
              <a:t>60 FPS WebGL rendering</a:t>
            </a:r>
            <a:r>
              <a:rPr sz="980" b="0">
                <a:solidFill>
                  <a:srgbClr val="1E293B"/>
                </a:solidFill>
                <a:latin typeface="Arial"/>
              </a:rPr>
              <a:t> on commodity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691640" cy="5920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94415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365D"/>
                </a:solidFill>
                <a:latin typeface="Arial"/>
              </a:defRPr>
            </a:pPr>
            <a:r>
              <a:t>• Potential Impact on the Target Audience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SmallSat &amp; CubeSat Operators</a:t>
            </a:r>
            <a:r>
              <a:rPr sz="1000" b="0">
                <a:solidFill>
                  <a:srgbClr val="1E293B"/>
                </a:solidFill>
                <a:latin typeface="Arial"/>
              </a:rPr>
              <a:t>: Provides free, research-grade collision avoidance intelligence and maneuver lead-time without million-dollar enterprise licenses.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Academic &amp; Research Institutions</a:t>
            </a:r>
            <a:r>
              <a:rPr sz="1000" b="0">
                <a:solidFill>
                  <a:srgbClr val="1E293B"/>
                </a:solidFill>
                <a:latin typeface="Arial"/>
              </a:rPr>
              <a:t>: Serves as an open testbed for astrodynamics training, orbital mechanics labs, and debris modeling studies.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Space Tech Startups &amp; Developing Space Agencies</a:t>
            </a:r>
            <a:r>
              <a:rPr sz="1000" b="0">
                <a:solidFill>
                  <a:srgbClr val="1E293B"/>
                </a:solidFill>
                <a:latin typeface="Arial"/>
              </a:rPr>
              <a:t>: Enhances regional Space Situational Awareness (SSA) complementing national programs (e.g., ISRO NETRA).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2633472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wrap="square"/>
          <a:lstStyle/>
          <a:p>
            <a:pPr algn="ctr">
              <a:spcAft>
                <a:spcPts val="800"/>
              </a:spcAft>
              <a:defRPr b="1" sz="1150">
                <a:solidFill>
                  <a:srgbClr val="1E40AF"/>
                </a:solidFill>
                <a:latin typeface="Arial"/>
              </a:defRPr>
            </a:pPr>
            <a:r>
              <a:t>• Technical Benefits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Unified multi-source TLE ingestion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Sub-kilometer TCA spatial precision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Explainable risk factor decomposition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CCSDS CDM Blue Book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337560"/>
            <a:ext cx="2633472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wrap="square"/>
          <a:lstStyle/>
          <a:p>
            <a:pPr algn="ctr">
              <a:spcAft>
                <a:spcPts val="800"/>
              </a:spcAft>
              <a:defRPr b="1" sz="1150">
                <a:solidFill>
                  <a:srgbClr val="1E40AF"/>
                </a:solidFill>
                <a:latin typeface="Arial"/>
              </a:defRPr>
            </a:pPr>
            <a:r>
              <a:t>• Operational Benefits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Converts raw ephemerides into alerts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Automated high-risk priority queue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Dual 3D celestial &amp; 2D ground track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72-hour maneuver preparation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337560"/>
            <a:ext cx="2633472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wrap="square"/>
          <a:lstStyle/>
          <a:p>
            <a:pPr algn="ctr">
              <a:spcAft>
                <a:spcPts val="800"/>
              </a:spcAft>
              <a:defRPr b="1" sz="1150">
                <a:solidFill>
                  <a:srgbClr val="1E40AF"/>
                </a:solidFill>
                <a:latin typeface="Arial"/>
              </a:defRPr>
            </a:pPr>
            <a:r>
              <a:t>• Economic Benefits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Democratizes space safety software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&gt;90% reduction in SSA tooling costs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Prevents catastrophic mission loss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Accessible on standard web browsers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3337560"/>
            <a:ext cx="2633472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wrap="square"/>
          <a:lstStyle/>
          <a:p>
            <a:pPr algn="ctr">
              <a:spcAft>
                <a:spcPts val="800"/>
              </a:spcAft>
              <a:defRPr b="1" sz="1150">
                <a:solidFill>
                  <a:srgbClr val="1E40AF"/>
                </a:solidFill>
                <a:latin typeface="Arial"/>
              </a:defRPr>
            </a:pPr>
            <a:r>
              <a:t>• Space Sustainability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Mitigates cascading Kessler Syndrome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Promotes responsible orbital slots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Supports UN COPUOS debris rules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✔ Assists national space safety 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691640" cy="5920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9441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 wrap="square"/>
          <a:lstStyle/>
          <a:p>
            <a:pPr algn="ctr">
              <a:spcAft>
                <a:spcPts val="1000"/>
              </a:spcAft>
              <a:defRPr b="1" sz="1300">
                <a:solidFill>
                  <a:srgbClr val="1A365D"/>
                </a:solidFill>
                <a:latin typeface="Arial"/>
              </a:defRPr>
            </a:pPr>
            <a:r>
              <a:t>• Details / Links of the reference and research work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1. Hoots, F. R., &amp; Roehrich, R. L. (1980): </a:t>
            </a:r>
            <a:r>
              <a:rPr b="1" sz="950">
                <a:solidFill>
                  <a:srgbClr val="0F172A"/>
                </a:solidFill>
                <a:latin typeface="Arial"/>
              </a:rPr>
              <a:t>"Spacetrack Report No. 3: Models for Propagation of NORAD Element Sets (SGP4/SDP4)". </a:t>
            </a:r>
            <a:r>
              <a:rPr sz="900">
                <a:solidFill>
                  <a:srgbClr val="475569"/>
                </a:solidFill>
                <a:latin typeface="Arial"/>
              </a:rPr>
              <a:t>Aerospace Defense Command, Peterson AFB, Colorado. Standard mathematical formulations for analytical orbital perturbation propagation.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2. Vallado, D. A., Crawford, P., Hujsak, R., &amp; Kelso, T. S. (2006): </a:t>
            </a:r>
            <a:r>
              <a:rPr b="1" sz="950">
                <a:solidFill>
                  <a:srgbClr val="0F172A"/>
                </a:solidFill>
                <a:latin typeface="Arial"/>
              </a:rPr>
              <a:t>"Revisiting Spacetrack Report #3: Rev 2 (AIAA 2006-6753)". </a:t>
            </a:r>
            <a:r>
              <a:rPr sz="900">
                <a:solidFill>
                  <a:srgbClr val="475569"/>
                </a:solidFill>
                <a:latin typeface="Arial"/>
              </a:rPr>
              <a:t>Analytical Graphics, Inc. / CelesTrak. Comprehensive derivation and code validation for official SGP4 implementation with WGS84.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3. Foster, J. L., &amp; Estes, H. S. (1992): </a:t>
            </a:r>
            <a:r>
              <a:rPr b="1" sz="950">
                <a:solidFill>
                  <a:srgbClr val="0F172A"/>
                </a:solidFill>
                <a:latin typeface="Arial"/>
              </a:rPr>
              <a:t>"A Determination of the Probability of Collision Between Two Space Objects". </a:t>
            </a:r>
            <a:r>
              <a:rPr sz="900">
                <a:solidFill>
                  <a:srgbClr val="475569"/>
                </a:solidFill>
                <a:latin typeface="Arial"/>
              </a:rPr>
              <a:t>NASA Johnson Space Center Internal Report, Houston, TX. Formulation for 2D isotropic hard-body encounter collision probability ($P_c$).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4. Alfano, S. (2005): </a:t>
            </a:r>
            <a:r>
              <a:rPr b="1" sz="950">
                <a:solidFill>
                  <a:srgbClr val="0F172A"/>
                </a:solidFill>
                <a:latin typeface="Arial"/>
              </a:rPr>
              <a:t>"Review of Conjunction Assessment Techniques". </a:t>
            </a:r>
            <a:r>
              <a:rPr sz="900">
                <a:solidFill>
                  <a:srgbClr val="475569"/>
                </a:solidFill>
                <a:latin typeface="Arial"/>
              </a:rPr>
              <a:t>The Journal of the Astronautical Sciences, Vol. 53, No. 4, pp. 355–375. Maximum collision probability boundary assessment and encounter geometry metrics.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5. Consultative Committee for Space Data Systems (CCSDS, 2019): </a:t>
            </a:r>
            <a:r>
              <a:rPr b="1" sz="950">
                <a:solidFill>
                  <a:srgbClr val="0F172A"/>
                </a:solidFill>
                <a:latin typeface="Arial"/>
              </a:rPr>
              <a:t>"Conjunction Data Message (CDM) Recommended Standard Blue Book 508.0-B-1". </a:t>
            </a:r>
            <a:r>
              <a:rPr sz="900">
                <a:solidFill>
                  <a:srgbClr val="475569"/>
                </a:solidFill>
                <a:latin typeface="Arial"/>
              </a:rPr>
              <a:t>CCSDS Secretariat, Washington, DC. Formal international data format standard for conjunction event data exchange (KVN &amp; XML).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6. NASA Orbital Debris Program Office &amp; King-Hele, D. G. (1987): </a:t>
            </a:r>
            <a:r>
              <a:rPr b="1" sz="950">
                <a:solidFill>
                  <a:srgbClr val="0F172A"/>
                </a:solidFill>
                <a:latin typeface="Arial"/>
              </a:rPr>
              <a:t>"Satellite Orbits in an Atmosphere: Theory and Applications &amp; ODMSP". </a:t>
            </a:r>
            <a:r>
              <a:rPr sz="900">
                <a:solidFill>
                  <a:srgbClr val="475569"/>
                </a:solidFill>
                <a:latin typeface="Arial"/>
              </a:rPr>
              <a:t>Atmospheric drag modeling with King-Hele decay equations and Jacchia-Roberts scale heights for re-entry lifetime predictions.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  <a:latin typeface="Arial"/>
              </a:rPr>
              <a:t>7. 18th Space Defense Squadron &amp; CelesTrak: </a:t>
            </a:r>
            <a:r>
              <a:rPr b="1" sz="950">
                <a:solidFill>
                  <a:srgbClr val="0F172A"/>
                </a:solidFill>
                <a:latin typeface="Arial"/>
              </a:rPr>
              <a:t>"Space-Track.org REST API &amp; CSSI Orbital Data Services". </a:t>
            </a:r>
            <a:r>
              <a:rPr sz="900">
                <a:solidFill>
                  <a:srgbClr val="475569"/>
                </a:solidFill>
                <a:latin typeface="Arial"/>
              </a:rPr>
              <a:t>Authoritative sources for open-access Two-Line Element (TLE) ephemerides and active satellite/debris catalog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